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B7BC8F-4C5F-4221-AFBC-CFD8461CF6EC}" v="4" dt="2026-08-30T07:59:01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tha .R" userId="471667085e94f41d" providerId="LiveId" clId="{AA2EC0D6-99D5-49F2-AB48-1AF237123444}"/>
    <pc:docChg chg="custSel modSld">
      <pc:chgData name="akshatha .R" userId="471667085e94f41d" providerId="LiveId" clId="{AA2EC0D6-99D5-49F2-AB48-1AF237123444}" dt="2026-08-30T07:58:43.469" v="1" actId="478"/>
      <pc:docMkLst>
        <pc:docMk/>
      </pc:docMkLst>
      <pc:sldChg chg="delSp mod">
        <pc:chgData name="akshatha .R" userId="471667085e94f41d" providerId="LiveId" clId="{AA2EC0D6-99D5-49F2-AB48-1AF237123444}" dt="2026-08-30T07:58:43.469" v="1" actId="478"/>
        <pc:sldMkLst>
          <pc:docMk/>
          <pc:sldMk cId="0" sldId="256"/>
        </pc:sldMkLst>
        <pc:spChg chg="del">
          <ac:chgData name="akshatha .R" userId="471667085e94f41d" providerId="LiveId" clId="{AA2EC0D6-99D5-49F2-AB48-1AF237123444}" dt="2026-08-30T07:58:43.469" v="1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akshatha .R" userId="471667085e94f41d" providerId="LiveId" clId="{AA2EC0D6-99D5-49F2-AB48-1AF237123444}" dt="2026-08-30T07:58:37.031" v="0" actId="478"/>
          <ac:spMkLst>
            <pc:docMk/>
            <pc:sldMk cId="0" sldId="256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714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2756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28209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9602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28024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18709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64536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52481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20691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78138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95901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7245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270792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08023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84869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7853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50291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0505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574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7269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  <p:sldLayoutId id="2147483755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120640"/>
            <a:ext cx="3840480" cy="384048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hospi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987552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874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a Doctor Appointment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063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 a Mobile Healthcare Application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2519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map covers:  </a:t>
            </a:r>
            <a:r>
              <a:rPr lang="en-US" sz="14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stages a patient moves through — from first symptom to post-visit feedback — plus the actions, emotions, and pain points at each step.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BOOKING JOURNEY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Stages, One Seamless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91640" y="3771900"/>
            <a:ext cx="919886" cy="0"/>
          </a:xfrm>
          <a:prstGeom prst="line">
            <a:avLst/>
          </a:prstGeom>
          <a:noFill/>
          <a:ln w="25400">
            <a:solidFill>
              <a:srgbClr val="C9DEDC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640080" y="267919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1051560" cy="1051560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2B4544">
                <a:alpha val="25000"/>
              </a:srgbClr>
            </a:outerShdw>
          </a:effectLst>
        </p:spPr>
      </p:sp>
      <p:pic>
        <p:nvPicPr>
          <p:cNvPr id="7" name="Image 0" descr="n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204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20040" y="446227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663086" y="3771900"/>
            <a:ext cx="919886" cy="0"/>
          </a:xfrm>
          <a:prstGeom prst="line">
            <a:avLst/>
          </a:prstGeom>
          <a:noFill/>
          <a:ln w="25400">
            <a:solidFill>
              <a:srgbClr val="C9DEDC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2611526" y="267919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11526" y="3246120"/>
            <a:ext cx="1051560" cy="1051560"/>
          </a:xfrm>
          <a:prstGeom prst="ellipse">
            <a:avLst/>
          </a:prstGeom>
          <a:solidFill>
            <a:srgbClr val="00A896"/>
          </a:solidFill>
          <a:ln w="381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2B4544">
                <a:alpha val="25000"/>
              </a:srgbClr>
            </a:outerShdw>
          </a:effectLst>
        </p:spPr>
      </p:sp>
      <p:pic>
        <p:nvPicPr>
          <p:cNvPr id="12" name="Image 1" descr="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846" y="35204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291486" y="446227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634533" y="3771900"/>
            <a:ext cx="919886" cy="0"/>
          </a:xfrm>
          <a:prstGeom prst="line">
            <a:avLst/>
          </a:prstGeom>
          <a:noFill/>
          <a:ln w="25400">
            <a:solidFill>
              <a:srgbClr val="C9DEDC"/>
            </a:solidFill>
            <a:prstDash val="solid"/>
            <a:tailEnd type="triangle"/>
          </a:ln>
        </p:spPr>
      </p:sp>
      <p:sp>
        <p:nvSpPr>
          <p:cNvPr id="15" name="Text 11"/>
          <p:cNvSpPr txBox="1"/>
          <p:nvPr/>
        </p:nvSpPr>
        <p:spPr>
          <a:xfrm>
            <a:off x="4582973" y="267919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82973" y="3246120"/>
            <a:ext cx="1051560" cy="1051560"/>
          </a:xfrm>
          <a:prstGeom prst="ellipse">
            <a:avLst/>
          </a:prstGeom>
          <a:solidFill>
            <a:srgbClr val="02C39A"/>
          </a:solidFill>
          <a:ln w="381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2B4544">
                <a:alpha val="25000"/>
              </a:srgbClr>
            </a:outerShdw>
          </a:effectLst>
        </p:spPr>
      </p:sp>
      <p:pic>
        <p:nvPicPr>
          <p:cNvPr id="17" name="Image 2" descr="bo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293" y="352044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262933" y="446227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605979" y="3771900"/>
            <a:ext cx="919886" cy="0"/>
          </a:xfrm>
          <a:prstGeom prst="line">
            <a:avLst/>
          </a:prstGeom>
          <a:noFill/>
          <a:ln w="25400">
            <a:solidFill>
              <a:srgbClr val="C9DEDC"/>
            </a:solidFill>
            <a:prstDash val="solid"/>
            <a:tailEnd type="triangle"/>
          </a:ln>
        </p:spPr>
      </p:sp>
      <p:sp>
        <p:nvSpPr>
          <p:cNvPr id="20" name="Text 15"/>
          <p:cNvSpPr txBox="1"/>
          <p:nvPr/>
        </p:nvSpPr>
        <p:spPr>
          <a:xfrm>
            <a:off x="6554419" y="267919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554419" y="3246120"/>
            <a:ext cx="1051560" cy="1051560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2B4544">
                <a:alpha val="25000"/>
              </a:srgbClr>
            </a:outerShdw>
          </a:effectLst>
        </p:spPr>
      </p:sp>
      <p:pic>
        <p:nvPicPr>
          <p:cNvPr id="22" name="Image 3" descr="confi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8739" y="352044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234379" y="446227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9577426" y="3771900"/>
            <a:ext cx="919886" cy="0"/>
          </a:xfrm>
          <a:prstGeom prst="line">
            <a:avLst/>
          </a:prstGeom>
          <a:noFill/>
          <a:ln w="25400">
            <a:solidFill>
              <a:srgbClr val="C9DEDC"/>
            </a:solidFill>
            <a:prstDash val="solid"/>
            <a:tailEnd type="triangle"/>
          </a:ln>
        </p:spPr>
      </p:sp>
      <p:sp>
        <p:nvSpPr>
          <p:cNvPr id="25" name="Text 19"/>
          <p:cNvSpPr txBox="1"/>
          <p:nvPr/>
        </p:nvSpPr>
        <p:spPr>
          <a:xfrm>
            <a:off x="8525866" y="267919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8525866" y="3246120"/>
            <a:ext cx="1051560" cy="1051560"/>
          </a:xfrm>
          <a:prstGeom prst="ellipse">
            <a:avLst/>
          </a:prstGeom>
          <a:solidFill>
            <a:srgbClr val="00A896"/>
          </a:solidFill>
          <a:ln w="381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2B4544">
                <a:alpha val="25000"/>
              </a:srgbClr>
            </a:outerShdw>
          </a:effectLst>
        </p:spPr>
      </p:sp>
      <p:pic>
        <p:nvPicPr>
          <p:cNvPr id="27" name="Image 4" descr="visi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0186" y="3520440"/>
            <a:ext cx="502920" cy="50292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205826" y="446227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10497312" y="267919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10497312" y="3246120"/>
            <a:ext cx="1051560" cy="1051560"/>
          </a:xfrm>
          <a:prstGeom prst="ellipse">
            <a:avLst/>
          </a:prstGeom>
          <a:solidFill>
            <a:srgbClr val="02C39A"/>
          </a:solidFill>
          <a:ln w="381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2B4544">
                <a:alpha val="25000"/>
              </a:srgbClr>
            </a:outerShdw>
          </a:effectLst>
        </p:spPr>
      </p:sp>
      <p:pic>
        <p:nvPicPr>
          <p:cNvPr id="31" name="Image 5" descr="followu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71632" y="3520440"/>
            <a:ext cx="502920" cy="5029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0177272" y="446227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Feedback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320040" y="51663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4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or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4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concern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2291486" y="51663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4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doctors,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4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specialties, reviews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4262933" y="51663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4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slot,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4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details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6234379" y="51663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4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4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calendar sync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8205826" y="51663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4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video call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4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clinic visit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10177272" y="51663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4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visit,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4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records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548640" y="598932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3FAF9"/>
          </a:solidFill>
          <a:ln/>
        </p:spPr>
      </p:sp>
      <p:pic>
        <p:nvPicPr>
          <p:cNvPr id="40" name="Image 6" descr="mobi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6080760"/>
            <a:ext cx="320040" cy="32004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188720" y="598932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happens inside a single mobile app session — patients rarely need to call the clinic or switch tools.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STAGE-BY-STAGE BREAKDOWN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Patient Does, Feels, and Needs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13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3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3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Feels unwell or due for a check-up; decides professional care is needed.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Uncertain, mildly anxious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 a quick symptom-checker so the next step feels obvious.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3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&amp;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3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app, filters by specialty, location, and insurance, reads reviews.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Curious, a little overwhelmed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verified ratings and "next available slot" up front.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3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3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Selects doctor, time slot, visit type, and confirms personal/insurance details.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Focused, wants 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Pre-fill known patient data; keep the form under 3 steps.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3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3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Receives booking confirmation, calendar invite, and reminder notifications.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Reassured, relieved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prep instructions (fasting, documents) with the reminder.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3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3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Joins video call or checks in on-site; discusses concerns with the doctor.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Attentive, sometimes nervous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virtual waiting room with live queue position.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3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3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 Feedback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prescription/notes in-app, rates the experience, books next visit.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Satisfied, informed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Auto-suggest a follow-up date based on doctor's notes.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3   ·   JOURNEY DETAIL</a:t>
            </a:r>
            <a:endParaRPr lang="en-US" sz="1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342</Words>
  <Application>Microsoft Office PowerPoint</Application>
  <PresentationFormat>Widescreen</PresentationFormat>
  <Paragraphs>77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Calibri</vt:lpstr>
      <vt:lpstr>Cambria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akshatha .R</cp:lastModifiedBy>
  <cp:revision>1</cp:revision>
  <dcterms:created xsi:type="dcterms:W3CDTF">2026-08-28T13:27:34Z</dcterms:created>
  <dcterms:modified xsi:type="dcterms:W3CDTF">2026-08-30T07:59:05Z</dcterms:modified>
</cp:coreProperties>
</file>